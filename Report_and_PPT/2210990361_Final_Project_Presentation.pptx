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70" r:id="rId7"/>
    <p:sldId id="277" r:id="rId8"/>
    <p:sldId id="269" r:id="rId9"/>
    <p:sldId id="273" r:id="rId10"/>
    <p:sldId id="268" r:id="rId11"/>
    <p:sldId id="279" r:id="rId12"/>
    <p:sldId id="280" r:id="rId13"/>
    <p:sldId id="278" r:id="rId14"/>
    <p:sldId id="281" r:id="rId15"/>
    <p:sldId id="272" r:id="rId16"/>
    <p:sldId id="271" r:id="rId17"/>
    <p:sldId id="282" r:id="rId18"/>
    <p:sldId id="274" r:id="rId19"/>
    <p:sldId id="275" r:id="rId20"/>
    <p:sldId id="276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33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5/19/2026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COOP-II 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AI-Powered Mental Health Analysis Using Speech and Text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Harinder Singh Dhanoa (2210990361)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Thirza Behal (2210990912)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Alisha Bilandi (2210991241)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Romani Gupta (2210992181)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Anshu Singla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7899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64015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800950"/>
            <a:ext cx="3778405" cy="345615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issues are rapidly increasing in today’s fast-paced world, especially among students and working professionals.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remains a challenge due to lack of awareness and hesitation in seeking help.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9511E-CF1A-E383-7AF9-9A05612FCAE2}"/>
              </a:ext>
            </a:extLst>
          </p:cNvPr>
          <p:cNvSpPr txBox="1"/>
          <p:nvPr/>
        </p:nvSpPr>
        <p:spPr>
          <a:xfrm>
            <a:off x="164008" y="5717360"/>
            <a:ext cx="811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AI can play a key role by enabling </a:t>
            </a:r>
            <a:r>
              <a:rPr lang="en-US" b="1" dirty="0"/>
              <a:t>fast and accessible emotion analysis.</a:t>
            </a:r>
            <a:endParaRPr lang="en-US" dirty="0"/>
          </a:p>
        </p:txBody>
      </p:sp>
      <p:sp>
        <p:nvSpPr>
          <p:cNvPr id="2" name="AutoShape 2" descr="Human–Artificial Intelligence (HAI) | by Dr. Kishor Bhoyar | Medium">
            <a:extLst>
              <a:ext uri="{FF2B5EF4-FFF2-40B4-BE49-F238E27FC236}">
                <a16:creationId xmlns:a16="http://schemas.microsoft.com/office/drawing/2014/main" id="{AA2FA500-6587-063D-C20D-E426C26524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0E375E-CCD3-D21C-1C14-D8B11F60D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87143"/>
            <a:ext cx="4328719" cy="38837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2C66-E110-AD4D-E3F4-38A538C9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Problem Statement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B7CD54C-5383-01FB-19BC-666C71E5E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807" y="1713026"/>
            <a:ext cx="580119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Emotional state is difficult to identify manually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People often hesitate to express their feelings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mainly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text-based analysis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integrated solution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+ text emotion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real-time and scalable systems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0BA35-6A92-EB8C-A3B7-BCDAA00B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0357"/>
            <a:ext cx="3342807" cy="35676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BD39CA-0325-AAC0-AF1B-7C4D660EB1DE}"/>
              </a:ext>
            </a:extLst>
          </p:cNvPr>
          <p:cNvSpPr txBox="1"/>
          <p:nvPr/>
        </p:nvSpPr>
        <p:spPr>
          <a:xfrm>
            <a:off x="659566" y="5497643"/>
            <a:ext cx="8252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There is a need for a system that can accurately detect human emotions</a:t>
            </a:r>
          </a:p>
          <a:p>
            <a:r>
              <a:rPr lang="en-US" dirty="0"/>
              <a:t>     from both speech and text in real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0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1A23E5-4426-85A3-7064-9C6624357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Research Gap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565FD-FCC5-EA4C-BDB6-A11D6BA775C6}"/>
              </a:ext>
            </a:extLst>
          </p:cNvPr>
          <p:cNvSpPr txBox="1"/>
          <p:nvPr/>
        </p:nvSpPr>
        <p:spPr>
          <a:xfrm>
            <a:off x="562062" y="1308683"/>
            <a:ext cx="78437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research lacks comprehensive systems that combine multimodal inputs and real-time processing.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models focus only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 analysis is often ignored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models with higher computational cost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2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B2EE-CEEA-A4EC-4F3B-60BA6013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Objective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E2C366-8D79-A204-B5CB-8C2CA0B9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2" y="2509374"/>
            <a:ext cx="73751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an AI-based emotion detection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both: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input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input (converted into text)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 basic mental well-being suggestions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7D86A-05FE-F947-6873-81423B15D23E}"/>
              </a:ext>
            </a:extLst>
          </p:cNvPr>
          <p:cNvSpPr txBox="1"/>
          <p:nvPr/>
        </p:nvSpPr>
        <p:spPr>
          <a:xfrm>
            <a:off x="209862" y="1354118"/>
            <a:ext cx="87842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this system is to develop an AI-based solution that can accurately detect human emotions.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provide real-time analysis using both speech and text inputs.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6F45AA-98C0-56D6-F3AB-12E45DCC1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004" y="2736635"/>
            <a:ext cx="3462727" cy="268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3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890AEF-C3D6-6C88-AF99-B88ACEEAC19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72539" y="1320270"/>
            <a:ext cx="8229240" cy="1182187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Artificial Intelligence to analyze user emotions from both speech and text inputs.</a:t>
            </a:r>
          </a:p>
          <a:p>
            <a:pPr marL="0" indent="0"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processes the input in real time and provides meaningful emotional insights along with suggestions.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8A4C1B-5331-67A1-B072-583B2E089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6074"/>
            <a:ext cx="481471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Proposed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BD8CF1-CA6B-9DB2-D1AC-EFE20F62B5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44880"/>
            <a:ext cx="5156462" cy="3605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F03841-AD53-E5CE-64AC-17438B5D0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10"/>
          <a:stretch>
            <a:fillRect/>
          </a:stretch>
        </p:blipFill>
        <p:spPr bwMode="auto">
          <a:xfrm>
            <a:off x="4244550" y="2844881"/>
            <a:ext cx="4899450" cy="36027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805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540B78-70E3-09FF-1747-09950921EC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6675"/>
            <a:ext cx="6405563" cy="6604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the 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596CF8-508B-03D1-161A-A394DD990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090"/>
            <a:ext cx="4572000" cy="5807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47647D-0C0E-8B1A-1AC8-6F2B235E085E}"/>
              </a:ext>
            </a:extLst>
          </p:cNvPr>
          <p:cNvSpPr txBox="1"/>
          <p:nvPr/>
        </p:nvSpPr>
        <p:spPr>
          <a:xfrm>
            <a:off x="4132167" y="1246249"/>
            <a:ext cx="48418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user input through multiple stages, converting speech to text and analyzing it using an AI model.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step ensures accurate emotion detection and meaningful output generation.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77C742A-6096-8C8D-A352-6CF459B4C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167" y="2530571"/>
            <a:ext cx="48418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Accepts input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or 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speech into text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Preprocesses text for analysis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600" b="1" dirty="0"/>
              <a:t>Fine-Tuned </a:t>
            </a:r>
            <a:r>
              <a:rPr lang="en-US" sz="1600" b="1" dirty="0" err="1"/>
              <a:t>DistilRoBERTa</a:t>
            </a:r>
            <a:r>
              <a:rPr lang="en-US" sz="1600" b="1" dirty="0"/>
              <a:t> Model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emotion detection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detected emotion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C07F0B-D85E-0FB6-0402-6E2D813AA44A}"/>
              </a:ext>
            </a:extLst>
          </p:cNvPr>
          <p:cNvSpPr txBox="1"/>
          <p:nvPr/>
        </p:nvSpPr>
        <p:spPr>
          <a:xfrm>
            <a:off x="4132167" y="4717191"/>
            <a:ext cx="4753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Multi-stage pipeline ensures accurate and real-time emotion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C0CA-FDB1-FCCB-9092-72A8A569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87ABF-3E01-3B45-A9FC-A24ACD08E94B}"/>
              </a:ext>
            </a:extLst>
          </p:cNvPr>
          <p:cNvSpPr txBox="1"/>
          <p:nvPr/>
        </p:nvSpPr>
        <p:spPr>
          <a:xfrm>
            <a:off x="696286" y="1350627"/>
            <a:ext cx="76004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structured machine learning pipeline to ensure accurate predictions.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(cleaning and normalization)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of input 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into embeddings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DistilRoBERTa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using trained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687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1308-BF34-2343-3965-7748F9D7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CFEBE-9F40-11EC-7F88-AB098D21E252}"/>
              </a:ext>
            </a:extLst>
          </p:cNvPr>
          <p:cNvSpPr txBox="1"/>
          <p:nvPr/>
        </p:nvSpPr>
        <p:spPr>
          <a:xfrm>
            <a:off x="763399" y="1501629"/>
            <a:ext cx="80198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DistilRoBERTa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transformer-based model used for efficient and accurate emotion classification.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version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training and inference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contextual meaning of 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and fine-tuned on emotion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accuracy with lower computational cost</a:t>
            </a:r>
          </a:p>
          <a:p>
            <a:endParaRPr lang="en-IN" dirty="0"/>
          </a:p>
        </p:txBody>
      </p:sp>
      <p:pic>
        <p:nvPicPr>
          <p:cNvPr id="5122" name="Picture 2" descr="Machine Learning - Free education icons">
            <a:extLst>
              <a:ext uri="{FF2B5EF4-FFF2-40B4-BE49-F238E27FC236}">
                <a16:creationId xmlns:a16="http://schemas.microsoft.com/office/drawing/2014/main" id="{854C7A1A-04CF-47F5-FD92-BAA94580B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421" y="2674854"/>
            <a:ext cx="2353559" cy="235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916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8513-53EC-00BF-1BEE-536A2237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6DFE1-E2B7-9542-9B70-01B91F08EBB9}"/>
              </a:ext>
            </a:extLst>
          </p:cNvPr>
          <p:cNvSpPr txBox="1"/>
          <p:nvPr/>
        </p:nvSpPr>
        <p:spPr>
          <a:xfrm>
            <a:off x="348532" y="1520224"/>
            <a:ext cx="77682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evaluated using two publicly available datasets for emotion classification tasks.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multiple emotion categories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labelled text samples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dataset for training accuracy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NLP-based emotion detection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DAIR-AI Emotion Dataset — English-language annotated tweets across 6 emotion classes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GoEmotions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Dataset— used as an additional test set to evaluate cross-dataset generalization</a:t>
            </a:r>
          </a:p>
        </p:txBody>
      </p:sp>
      <p:sp>
        <p:nvSpPr>
          <p:cNvPr id="4" name="AutoShape 2" descr="What is a dataset? How do I work with it?">
            <a:extLst>
              <a:ext uri="{FF2B5EF4-FFF2-40B4-BE49-F238E27FC236}">
                <a16:creationId xmlns:a16="http://schemas.microsoft.com/office/drawing/2014/main" id="{65334A87-2AD6-CCB6-17DD-6073078358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2" name="Picture 6" descr="Dataset Icon - Download SVG, PNG for Infographics | IconScout">
            <a:extLst>
              <a:ext uri="{FF2B5EF4-FFF2-40B4-BE49-F238E27FC236}">
                <a16:creationId xmlns:a16="http://schemas.microsoft.com/office/drawing/2014/main" id="{770F13A4-A722-E099-62D1-ECB0F16E3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892" y="3163346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828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258F-208F-3732-C18C-F2C36FF1E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Baseline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7AC17-9E48-2315-DAE9-5B2DFB248266}"/>
              </a:ext>
            </a:extLst>
          </p:cNvPr>
          <p:cNvSpPr txBox="1"/>
          <p:nvPr/>
        </p:nvSpPr>
        <p:spPr>
          <a:xfrm>
            <a:off x="1025084" y="1476462"/>
            <a:ext cx="72548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model is evaluated against traditional and advanced baseline models.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 (TF-IDF based)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(baseline transformer model)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helps validate model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039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EBBED4-0C93-D772-E435-09611239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292" y="0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6CBA52-1622-D522-09EF-20AA08D8A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908" y="841865"/>
            <a:ext cx="4808183" cy="587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53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D59CD-8508-CB95-63CB-BDB87B616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10662" cy="914040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— Our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576571B-EA9E-3FC8-B593-A4476A020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215181"/>
              </p:ext>
            </p:extLst>
          </p:nvPr>
        </p:nvGraphicFramePr>
        <p:xfrm>
          <a:off x="2625364" y="1489198"/>
          <a:ext cx="3893270" cy="17793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6635">
                  <a:extLst>
                    <a:ext uri="{9D8B030D-6E8A-4147-A177-3AD203B41FA5}">
                      <a16:colId xmlns:a16="http://schemas.microsoft.com/office/drawing/2014/main" val="2733422218"/>
                    </a:ext>
                  </a:extLst>
                </a:gridCol>
                <a:gridCol w="1946635">
                  <a:extLst>
                    <a:ext uri="{9D8B030D-6E8A-4147-A177-3AD203B41FA5}">
                      <a16:colId xmlns:a16="http://schemas.microsoft.com/office/drawing/2014/main" val="4238352214"/>
                    </a:ext>
                  </a:extLst>
                </a:gridCol>
              </a:tblGrid>
              <a:tr h="254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Metric</a:t>
                      </a:r>
                      <a:endParaRPr lang="en-IN" sz="8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Score</a:t>
                      </a:r>
                      <a:endParaRPr lang="en-IN" sz="8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7499824"/>
                  </a:ext>
                </a:extLst>
              </a:tr>
              <a:tr h="254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Accuracy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89.85%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3544940"/>
                  </a:ext>
                </a:extLst>
              </a:tr>
              <a:tr h="254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Precision (weighted)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90.78%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7404179"/>
                  </a:ext>
                </a:extLst>
              </a:tr>
              <a:tr h="254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Recall (weighted)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89.85%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4342251"/>
                  </a:ext>
                </a:extLst>
              </a:tr>
              <a:tr h="254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F1-Score (weighted)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0.9016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3218186"/>
                  </a:ext>
                </a:extLst>
              </a:tr>
              <a:tr h="254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Test Samples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2,000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67243"/>
                  </a:ext>
                </a:extLst>
              </a:tr>
              <a:tr h="2541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Dataset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DAIR-AI Emotion (full test split)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452209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6C60BED-AE26-9AE2-60BC-A3D534A9A389}"/>
              </a:ext>
            </a:extLst>
          </p:cNvPr>
          <p:cNvSpPr txBox="1"/>
          <p:nvPr/>
        </p:nvSpPr>
        <p:spPr>
          <a:xfrm>
            <a:off x="-47134" y="1023056"/>
            <a:ext cx="9238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Tables I and II present the evaluation results of our system on the full DAIR-AI Emotion test split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AA9B8-BB00-0D03-9155-0C499E247DDB}"/>
              </a:ext>
            </a:extLst>
          </p:cNvPr>
          <p:cNvSpPr txBox="1"/>
          <p:nvPr/>
        </p:nvSpPr>
        <p:spPr>
          <a:xfrm>
            <a:off x="2273974" y="3304506"/>
            <a:ext cx="4642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TABLE I.     Overall Evaluation Results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1FC55F4-041B-24C8-DD59-A0FBDC896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164921"/>
              </p:ext>
            </p:extLst>
          </p:nvPr>
        </p:nvGraphicFramePr>
        <p:xfrm>
          <a:off x="2571371" y="3895472"/>
          <a:ext cx="4047907" cy="1939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9535">
                  <a:extLst>
                    <a:ext uri="{9D8B030D-6E8A-4147-A177-3AD203B41FA5}">
                      <a16:colId xmlns:a16="http://schemas.microsoft.com/office/drawing/2014/main" val="2617403977"/>
                    </a:ext>
                  </a:extLst>
                </a:gridCol>
                <a:gridCol w="787093">
                  <a:extLst>
                    <a:ext uri="{9D8B030D-6E8A-4147-A177-3AD203B41FA5}">
                      <a16:colId xmlns:a16="http://schemas.microsoft.com/office/drawing/2014/main" val="2462919422"/>
                    </a:ext>
                  </a:extLst>
                </a:gridCol>
                <a:gridCol w="787093">
                  <a:extLst>
                    <a:ext uri="{9D8B030D-6E8A-4147-A177-3AD203B41FA5}">
                      <a16:colId xmlns:a16="http://schemas.microsoft.com/office/drawing/2014/main" val="3706845860"/>
                    </a:ext>
                  </a:extLst>
                </a:gridCol>
                <a:gridCol w="787093">
                  <a:extLst>
                    <a:ext uri="{9D8B030D-6E8A-4147-A177-3AD203B41FA5}">
                      <a16:colId xmlns:a16="http://schemas.microsoft.com/office/drawing/2014/main" val="1897966794"/>
                    </a:ext>
                  </a:extLst>
                </a:gridCol>
                <a:gridCol w="787093">
                  <a:extLst>
                    <a:ext uri="{9D8B030D-6E8A-4147-A177-3AD203B41FA5}">
                      <a16:colId xmlns:a16="http://schemas.microsoft.com/office/drawing/2014/main" val="1036857834"/>
                    </a:ext>
                  </a:extLst>
                </a:gridCol>
              </a:tblGrid>
              <a:tr h="430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Emotion</a:t>
                      </a:r>
                      <a:endParaRPr lang="en-IN" sz="8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Precision</a:t>
                      </a:r>
                      <a:endParaRPr lang="en-IN" sz="8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Recall</a:t>
                      </a:r>
                      <a:endParaRPr lang="en-IN" sz="8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F1-Score</a:t>
                      </a:r>
                      <a:endParaRPr lang="en-IN" sz="8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Support</a:t>
                      </a:r>
                      <a:endParaRPr lang="en-IN" sz="8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6627018"/>
                  </a:ext>
                </a:extLst>
              </a:tr>
              <a:tr h="2154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Joy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854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9323668"/>
                  </a:ext>
                </a:extLst>
              </a:tr>
              <a:tr h="2154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Sadness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581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9908927"/>
                  </a:ext>
                </a:extLst>
              </a:tr>
              <a:tr h="2154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Anger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0.83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0.91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0.87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275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9843450"/>
                  </a:ext>
                </a:extLst>
              </a:tr>
              <a:tr h="2154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effectLst/>
                        </a:rPr>
                        <a:t>Fear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0.85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0.87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0.86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224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3016118"/>
                  </a:ext>
                </a:extLst>
              </a:tr>
              <a:tr h="2154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Surprise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0.59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0.80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0.68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66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6060123"/>
                  </a:ext>
                </a:extLst>
              </a:tr>
              <a:tr h="2154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Disgust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0.00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0.00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0.00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6036819"/>
                  </a:ext>
                </a:extLst>
              </a:tr>
              <a:tr h="2154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>
                          <a:effectLst/>
                        </a:rPr>
                        <a:t>Neutral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0.00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0.00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>
                          <a:effectLst/>
                        </a:rPr>
                        <a:t>0.00</a:t>
                      </a:r>
                      <a:endParaRPr lang="en-IN" sz="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00" dirty="0">
                          <a:effectLst/>
                        </a:rPr>
                        <a:t>0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835454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BAC01EF-127B-B54D-3C9B-3DB22D8342C1}"/>
              </a:ext>
            </a:extLst>
          </p:cNvPr>
          <p:cNvSpPr txBox="1"/>
          <p:nvPr/>
        </p:nvSpPr>
        <p:spPr>
          <a:xfrm>
            <a:off x="2250649" y="5955289"/>
            <a:ext cx="4642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sz="18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TABLE II.     Per-Emotion Classification Results </a:t>
            </a:r>
            <a:endParaRPr lang="en-IN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2728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F84E-3C03-AE63-E9A0-CE025569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0"/>
            <a:ext cx="6598763" cy="914040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Comparison on DAIR-AI Emotion Test Set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877110-1D4F-CE43-A37C-F4B31166DF26}"/>
              </a:ext>
            </a:extLst>
          </p:cNvPr>
          <p:cNvSpPr txBox="1"/>
          <p:nvPr/>
        </p:nvSpPr>
        <p:spPr>
          <a:xfrm>
            <a:off x="433634" y="4862669"/>
            <a:ext cx="787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i="1" dirty="0"/>
              <a:t>TABLE III. Cross-Dataset Evaluation on </a:t>
            </a:r>
            <a:r>
              <a:rPr lang="en-IN" i="1" dirty="0" err="1"/>
              <a:t>GoEmotions</a:t>
            </a:r>
            <a:r>
              <a:rPr lang="en-IN" i="1" dirty="0"/>
              <a:t> Test Set.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4167FD-C51E-D7BB-B4DE-0343A5CFB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652708"/>
              </p:ext>
            </p:extLst>
          </p:nvPr>
        </p:nvGraphicFramePr>
        <p:xfrm>
          <a:off x="457200" y="2113935"/>
          <a:ext cx="8229601" cy="23051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7096">
                  <a:extLst>
                    <a:ext uri="{9D8B030D-6E8A-4147-A177-3AD203B41FA5}">
                      <a16:colId xmlns:a16="http://schemas.microsoft.com/office/drawing/2014/main" val="931965967"/>
                    </a:ext>
                  </a:extLst>
                </a:gridCol>
                <a:gridCol w="1552103">
                  <a:extLst>
                    <a:ext uri="{9D8B030D-6E8A-4147-A177-3AD203B41FA5}">
                      <a16:colId xmlns:a16="http://schemas.microsoft.com/office/drawing/2014/main" val="2581221613"/>
                    </a:ext>
                  </a:extLst>
                </a:gridCol>
                <a:gridCol w="1772656">
                  <a:extLst>
                    <a:ext uri="{9D8B030D-6E8A-4147-A177-3AD203B41FA5}">
                      <a16:colId xmlns:a16="http://schemas.microsoft.com/office/drawing/2014/main" val="836987730"/>
                    </a:ext>
                  </a:extLst>
                </a:gridCol>
                <a:gridCol w="1606418">
                  <a:extLst>
                    <a:ext uri="{9D8B030D-6E8A-4147-A177-3AD203B41FA5}">
                      <a16:colId xmlns:a16="http://schemas.microsoft.com/office/drawing/2014/main" val="1690160054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918707662"/>
                    </a:ext>
                  </a:extLst>
                </a:gridCol>
              </a:tblGrid>
              <a:tr h="418871">
                <a:tc>
                  <a:txBody>
                    <a:bodyPr/>
                    <a:lstStyle/>
                    <a:p>
                      <a:pPr indent="182880" algn="l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Model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Accuracy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Precision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Recall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F1-Score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3447321"/>
                  </a:ext>
                </a:extLst>
              </a:tr>
              <a:tr h="418871">
                <a:tc>
                  <a:txBody>
                    <a:bodyPr/>
                    <a:lstStyle/>
                    <a:p>
                      <a:pPr indent="182880" algn="l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SVM + TF-IDF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73.81%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72.82%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73.81%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0.7215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069820"/>
                  </a:ext>
                </a:extLst>
              </a:tr>
              <a:tr h="570933">
                <a:tc>
                  <a:txBody>
                    <a:bodyPr/>
                    <a:lstStyle/>
                    <a:p>
                      <a:pPr indent="182880" algn="l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BERT-base Emotion ‡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63.43%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63.80%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63.43%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0.6250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8133382"/>
                  </a:ext>
                </a:extLst>
              </a:tr>
              <a:tr h="896514">
                <a:tc>
                  <a:txBody>
                    <a:bodyPr/>
                    <a:lstStyle/>
                    <a:p>
                      <a:pPr indent="182880" algn="l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Proposed: DistilRoBERTa (fine-tuned)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82.03%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81.51%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>
                          <a:effectLst/>
                        </a:rPr>
                        <a:t>82.03%</a:t>
                      </a:r>
                      <a:endParaRPr lang="en-US" sz="1000" spc="-5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82880" algn="just">
                        <a:lnSpc>
                          <a:spcPct val="95000"/>
                        </a:lnSpc>
                        <a:spcAft>
                          <a:spcPts val="600"/>
                        </a:spcAft>
                        <a:buNone/>
                        <a:tabLst>
                          <a:tab pos="182880" algn="l"/>
                        </a:tabLst>
                      </a:pPr>
                      <a:r>
                        <a:rPr lang="en-IN" sz="800" spc="-5" dirty="0">
                          <a:effectLst/>
                        </a:rPr>
                        <a:t>0.8170</a:t>
                      </a:r>
                      <a:endParaRPr lang="en-US" sz="1000" spc="-5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424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419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B52E-C669-2728-8AD4-29BBF76D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23" y="0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854BE-66B4-441E-4B5C-C6703FE25808}"/>
              </a:ext>
            </a:extLst>
          </p:cNvPr>
          <p:cNvSpPr txBox="1"/>
          <p:nvPr/>
        </p:nvSpPr>
        <p:spPr>
          <a:xfrm>
            <a:off x="303550" y="988991"/>
            <a:ext cx="8536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emotion detection with an intuitive interface, making it accessible for various real-world applications.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efficiency, accuracy, and usability in a single solution.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945C5-5936-75DB-7183-988AA10A62A1}"/>
              </a:ext>
            </a:extLst>
          </p:cNvPr>
          <p:cNvSpPr txBox="1"/>
          <p:nvPr/>
        </p:nvSpPr>
        <p:spPr>
          <a:xfrm>
            <a:off x="4781863" y="2204092"/>
            <a:ext cx="38331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emotion detection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speech and text input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reliability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CC031-8669-3EEB-B28F-F1A410032B52}"/>
              </a:ext>
            </a:extLst>
          </p:cNvPr>
          <p:cNvSpPr txBox="1"/>
          <p:nvPr/>
        </p:nvSpPr>
        <p:spPr>
          <a:xfrm>
            <a:off x="4781863" y="4250189"/>
            <a:ext cx="41857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monitoring systems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chatbots and virtual assistants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support systems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 well-being tools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Therapy assistance platforms</a:t>
            </a:r>
          </a:p>
          <a:p>
            <a:endParaRPr lang="en-IN" dirty="0"/>
          </a:p>
        </p:txBody>
      </p:sp>
      <p:pic>
        <p:nvPicPr>
          <p:cNvPr id="3078" name="Picture 6" descr="Task Completed Icon Stock Illustrations – 3,997 Task Completed Icon Stock  Illustrations, Vectors &amp; Clipart - Dreamstime">
            <a:extLst>
              <a:ext uri="{FF2B5EF4-FFF2-40B4-BE49-F238E27FC236}">
                <a16:creationId xmlns:a16="http://schemas.microsoft.com/office/drawing/2014/main" id="{F987E3D1-18FC-D20B-0D5C-1DF06875A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30" y="2292231"/>
            <a:ext cx="3165164" cy="316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852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5326-D4D6-C126-61F4-31943A2E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036" y="-59961"/>
            <a:ext cx="5486040" cy="914040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FA560-6494-E10E-0C6D-278060793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7" y="1109271"/>
            <a:ext cx="4384623" cy="51341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B825DF-A032-F448-ED0A-3B046ACA30BD}"/>
              </a:ext>
            </a:extLst>
          </p:cNvPr>
          <p:cNvSpPr txBox="1"/>
          <p:nvPr/>
        </p:nvSpPr>
        <p:spPr>
          <a:xfrm>
            <a:off x="4976734" y="1173219"/>
            <a:ext cx="37400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demonstrates how AI can assist in early detection of emotional states.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speech and text analysis, it improves accuracy and usability.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can contribute to accessible and scalable mental health support solutions.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94616-EB24-873A-8FC2-321A88928736}"/>
              </a:ext>
            </a:extLst>
          </p:cNvPr>
          <p:cNvSpPr txBox="1"/>
          <p:nvPr/>
        </p:nvSpPr>
        <p:spPr>
          <a:xfrm>
            <a:off x="4976734" y="4077682"/>
            <a:ext cx="396134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emotion detection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tone analysis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healthcare platforms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25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F28951-0B2E-E1B5-EBB2-C5EA71CE7FDB}"/>
              </a:ext>
            </a:extLst>
          </p:cNvPr>
          <p:cNvSpPr txBox="1"/>
          <p:nvPr/>
        </p:nvSpPr>
        <p:spPr>
          <a:xfrm>
            <a:off x="2881665" y="2510853"/>
            <a:ext cx="33806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>
                <a:latin typeface="Gill Sans MT" panose="020B05020201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15180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35663</TotalTime>
  <Words>895</Words>
  <Application>Microsoft Office PowerPoint</Application>
  <PresentationFormat>On-screen Show (4:3)</PresentationFormat>
  <Paragraphs>224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Courier New</vt:lpstr>
      <vt:lpstr>Gill Sans MT</vt:lpstr>
      <vt:lpstr>Times New Roman</vt:lpstr>
      <vt:lpstr>Wingdings</vt:lpstr>
      <vt:lpstr>Office Theme</vt:lpstr>
      <vt:lpstr>PowerPoint Presentation</vt:lpstr>
      <vt:lpstr>PowerPoint Presentation</vt:lpstr>
      <vt:lpstr>           Problem Statement</vt:lpstr>
      <vt:lpstr>                Research Gap</vt:lpstr>
      <vt:lpstr>                   Objective</vt:lpstr>
      <vt:lpstr>              Proposed Solution </vt:lpstr>
      <vt:lpstr>Workflow of the Proposed System</vt:lpstr>
      <vt:lpstr>                Methodology</vt:lpstr>
      <vt:lpstr>                       Model</vt:lpstr>
      <vt:lpstr>                    Dataset</vt:lpstr>
      <vt:lpstr>               Baseline Models</vt:lpstr>
      <vt:lpstr>System Architecture</vt:lpstr>
      <vt:lpstr>Results — Our System</vt:lpstr>
      <vt:lpstr>Baseline Comparison on DAIR-AI Emotion Test Set</vt:lpstr>
      <vt:lpstr>Key Features &amp; Applications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ROMANI GUPTA</cp:lastModifiedBy>
  <cp:revision>2308</cp:revision>
  <dcterms:created xsi:type="dcterms:W3CDTF">2010-04-09T07:36:15Z</dcterms:created>
  <dcterms:modified xsi:type="dcterms:W3CDTF">2026-05-19T05:09:39Z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